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t_imgs/a_highly_realistic_cinematic_3d_rendered_scene_w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381739"/>
            <a:ext cx="5715000" cy="32166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713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45억 SEED/PRE-A 투자 제안서 · DESIGN THINKING EDITION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85800" y="12435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755648"/>
            <a:ext cx="4617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사람과 반려동물을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3D 자산으로 바꾸는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Personal Digital Twin Platform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13232" y="41605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피규어 제작을 넘어, 스캔 데이터 → 실물 굿즈 → 아바타 → 디지털 트윈으로 확장하는 감정 기반 3D 커머스 플랫폼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3232" y="6144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Draft v1.0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t_imgs/a_warm_softly_lit_collage_montage_style_photogr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801747"/>
            <a:ext cx="5257800" cy="2959362"/>
          </a:xfrm>
          <a:prstGeom prst="rect">
            <a:avLst/>
          </a:prstGeom>
        </p:spPr>
      </p:pic>
      <p:pic>
        <p:nvPicPr>
          <p:cNvPr id="3" name="Image 1" descr="/mnt/data/opt_imgs/a_clean_minimal_studio_scene_with_a_warm_neutr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213222"/>
            <a:ext cx="2542032" cy="1430787"/>
          </a:xfrm>
          <a:prstGeom prst="rect">
            <a:avLst/>
          </a:prstGeom>
        </p:spPr>
      </p:pic>
      <p:pic>
        <p:nvPicPr>
          <p:cNvPr id="4" name="Image 2" descr="/mnt/data/opt_imgs/a_clean_minimal_softly_lit_close_up_still_life_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213222"/>
            <a:ext cx="2542032" cy="143078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0" y="676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INVESTMENT THESIS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6400800" y="98755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우리는 “사진 다음의 기억 방식”을 만듭니다</a:t>
            </a:r>
            <a:endParaRPr lang="en-US" sz="2900" dirty="0"/>
          </a:p>
        </p:txBody>
      </p:sp>
      <p:sp>
        <p:nvSpPr>
          <p:cNvPr id="7" name="Text 2"/>
          <p:cNvSpPr/>
          <p:nvPr/>
        </p:nvSpPr>
        <p:spPr>
          <a:xfrm>
            <a:off x="6400800" y="2404872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사람들은 피규어를 사는 것이 아니라, 다시 꺼내볼 수 있는 지금의 나와 관계를 삽니다.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5980176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C89F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6766560" y="3310128"/>
            <a:ext cx="4178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데이터의 문제는 기술이 아니라, 반복 사용처가 부족하다는 점입니다.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6766560" y="48920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MyMiniMe는 오프라인 스캔을 통해 실물 매출을 만들고, 그 데이터를 디지털 트윈·아바타·팬굿즈로 재사용합니다.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EMPATHIZE · 고객 관찰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고객의 진짜 욕구는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“닮음”보다 “남김”에 가깝습니다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씽킹의 첫 단계는 제품 설명이 아니라, 고객이 왜 이 순간을 물건으로 붙잡고 싶은지 보는 것입니다.</a:t>
            </a:r>
            <a:endParaRPr lang="en-US" sz="1450" dirty="0"/>
          </a:p>
        </p:txBody>
      </p:sp>
      <p:pic>
        <p:nvPicPr>
          <p:cNvPr id="5" name="Image 0" descr="/mnt/data/opt_imgs/a_soft_elegant_still_life_wedding_scene_in_warm_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566928"/>
            <a:ext cx="3249168" cy="1828800"/>
          </a:xfrm>
          <a:prstGeom prst="rect">
            <a:avLst/>
          </a:prstGeom>
        </p:spPr>
      </p:pic>
      <p:pic>
        <p:nvPicPr>
          <p:cNvPr id="6" name="Image 1" descr="/mnt/data/opt_imgs/a_warm_softly_lit_memorial_display_scene_in_a_c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13076"/>
            <a:ext cx="2450592" cy="1379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관찰된 구매 감정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" y="4114800"/>
            <a:ext cx="5212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</a:t>
            </a:r>
            <a:pPr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가족·웨딩: 시간이 지나 사라지는 모습을 보관
</a:t>
            </a:r>
            <a:pPr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</a:t>
            </a:r>
            <a:pPr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반려동물: 매일 들고 다니는 애착물로 전환
</a:t>
            </a:r>
            <a:pPr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</a:t>
            </a:r>
            <a:pPr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추모: 사진보다 입체적인 기억의 의식화</a:t>
            </a:r>
            <a:endParaRPr lang="en-US" sz="1430" dirty="0"/>
          </a:p>
        </p:txBody>
      </p:sp>
      <p:sp>
        <p:nvSpPr>
          <p:cNvPr id="9" name="Text 5"/>
          <p:cNvSpPr/>
          <p:nvPr/>
        </p:nvSpPr>
        <p:spPr>
          <a:xfrm>
            <a:off x="6492240" y="496519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인사이트: 감정소비는 가격 저항을 낮추고, 개인화는 재구매·추천을 만듭니다.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t_imgs/a_warm_modern_office_workshop_scene_with_a_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031" y="566928"/>
            <a:ext cx="5166177" cy="2907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640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DEFINE · 문제 재정의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0" y="93268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데이터는 만들어지지만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쓸 곳이 하나라서 사라집니다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0" y="246888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고객·매장·모델러·출력팀·파트너가 각각 다른 목적과 언어로 움직여 데이터가 자산화되지 못합니다.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19088" y="3054096"/>
            <a:ext cx="4663440" cy="0"/>
          </a:xfrm>
          <a:prstGeom prst="line">
            <a:avLst/>
          </a:prstGeom>
          <a:noFill/>
          <a:ln w="12700">
            <a:solidFill>
              <a:srgbClr val="D7C7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19088" y="33101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문제의 3층 구조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19088" y="368503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</a:t>
            </a:r>
            <a:pPr indent="0" marL="0">
              <a:lnSpc>
                <a:spcPct val="125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고객: 결과물을 상상하기 어렵고 기대치가 흔들림
</a:t>
            </a:r>
            <a:pPr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</a:t>
            </a:r>
            <a:pPr indent="0" marL="0">
              <a:lnSpc>
                <a:spcPct val="125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운영: 수작업 커뮤니케이션이 원가와 리드타임을 증가
</a:t>
            </a:r>
            <a:pPr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</a:t>
            </a:r>
            <a:pPr indent="0" marL="0">
              <a:lnSpc>
                <a:spcPct val="125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시장: 피규어 1회 구매 후 데이터 재사용 루프가 약함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6419088" y="535838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문제는 “피규어를 더 잘 만드는 것”이 아니라 “개인 3D 데이터를 계속 쓰게 만드는 것”입니다.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85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CAUSAL INSIGHT · 상관요소 → 인과 가설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사용처가 생기면</a:t>
            </a:r>
            <a:endParaRPr lang="en-US" sz="3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문화는 따라옵니다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350008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데이터 수용도는 “신기함”보다 반복 사용처, 가격 구조, 파트너 채널, 결과 예측 가능성과 더 강하게 연결됩니다.</a:t>
            </a:r>
            <a:endParaRPr lang="en-US" sz="1400" dirty="0"/>
          </a:p>
        </p:txBody>
      </p:sp>
      <p:pic>
        <p:nvPicPr>
          <p:cNvPr id="5" name="Image 0" descr="/mnt/data/opt_imgs/a_clean_warm_toned_conceptual_product_process_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88" y="685800"/>
            <a:ext cx="3492856" cy="1965960"/>
          </a:xfrm>
          <a:prstGeom prst="rect">
            <a:avLst/>
          </a:prstGeom>
        </p:spPr>
      </p:pic>
      <p:pic>
        <p:nvPicPr>
          <p:cNvPr id="6" name="Image 1" descr="/mnt/data/opt_imgs/a_wide_cinematic_high_end_3d_render_photoreal_c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603" y="2880360"/>
            <a:ext cx="341162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971800"/>
            <a:ext cx="5212080" cy="0"/>
          </a:xfrm>
          <a:prstGeom prst="line">
            <a:avLst/>
          </a:prstGeom>
          <a:noFill/>
          <a:ln w="12700">
            <a:solidFill>
              <a:srgbClr val="D7C7B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218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 가설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3584448"/>
            <a:ext cx="53218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스캔 데이터의 사용처가 늘어난다</a:t>
            </a:r>
            <a:endParaRPr lang="en-US" sz="17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고객이 스캔을 “비용”이 아닌 “자산 취득”으로 인식한다</a:t>
            </a:r>
            <a:endParaRPr lang="en-US" sz="17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재구매·추천·B2B 제휴가 동시에 증가한다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13232" y="51572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KPI: 1회 촬영당 재사용 매출 / 데이터 재주문율 / 파트너 채널 전환율</a:t>
            </a:r>
            <a:endParaRPr lang="en-US" sz="1240" dirty="0"/>
          </a:p>
        </p:txBody>
      </p:sp>
      <p:sp>
        <p:nvSpPr>
          <p:cNvPr id="11" name="Text 7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t_imgs/a_clean_modern_interior_product_experience_sce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2770"/>
            <a:ext cx="5074920" cy="28564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7648" y="658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REFRAME · 제품에서 플랫폼으로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327648" y="9601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MyMiniMe의 본질은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오프라인 스캔 거점입니다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327648" y="2404872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42대 카메라 동시 촬영으로 현실의 사람과 반려동물을 3D 데이터로 변환하는 “고객 접점”이 이미 존재합니다.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55080" y="3337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0.1초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355080" y="38130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360° 순간 캡처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진입장벽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83880" y="3337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6개+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183880" y="38130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오프라인 매장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스캔 접점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12680" y="3337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2–3주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012680" y="38130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제작 리드타임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표준화 가능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27648" y="4709160"/>
            <a:ext cx="5029200" cy="0"/>
          </a:xfrm>
          <a:prstGeom prst="line">
            <a:avLst/>
          </a:prstGeom>
          <a:noFill/>
          <a:ln w="12700">
            <a:solidFill>
              <a:srgbClr val="D7C7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50749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투자자의 질문은 “피규어가 팔리나?”에서 “이 스캔 네트워크가 어떤 데이터 플랫폼이 되나?”로 바뀌어야 합니다.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SOLUTION · Personal 3D Asset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스캔 한 번으로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제품과 세계에 연결합니다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6771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피규어, 키링, 아바타, 팬굿즈, 호텔·웨딩 기념품까지 한 번 만든 3D 데이터를 반복 활용합니다.</a:t>
            </a:r>
            <a:endParaRPr lang="en-US" sz="1400" dirty="0"/>
          </a:p>
        </p:txBody>
      </p:sp>
      <p:pic>
        <p:nvPicPr>
          <p:cNvPr id="5" name="Image 0" descr="/mnt/data/opt_imgs/a_clean_high_end_3d_render_infographic_style_s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975157"/>
            <a:ext cx="5486400" cy="3088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 구성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685032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Capture Layer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매장·제휴처·출장 스캔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Production Layer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모델링·출력·후처리 자동화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Asset Layer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고객별 3D 데이터 보관·재사용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Commerce Layer</a:t>
            </a:r>
            <a:endParaRPr lang="en-US" sz="138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굿즈·아바타·라이선스 판매</a:t>
            </a:r>
            <a:endParaRPr lang="en-US" sz="1380" dirty="0"/>
          </a:p>
        </p:txBody>
      </p:sp>
      <p:pic>
        <p:nvPicPr>
          <p:cNvPr id="8" name="Image 1" descr="/mnt/data/opt_imgs/wide_high_quality_studio_photo_like_scene_a_cl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57" y="4663440"/>
            <a:ext cx="2355647" cy="1325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PROTOTYPE · 경험 흐름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고객은 “촬영”이 아니라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미래를 미리 봐야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6771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4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씽킹형 프로토타입은 구매 전 불안을 줄이고 결과 예측 가능성을 높이는 데 집중합니다.</a:t>
            </a:r>
            <a:endParaRPr lang="en-US" sz="1440" dirty="0"/>
          </a:p>
        </p:txBody>
      </p:sp>
      <p:pic>
        <p:nvPicPr>
          <p:cNvPr id="5" name="Image 0" descr="/mnt/data/opt_imgs/a_wide_cinematic_storyboard_like_composite_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908275"/>
            <a:ext cx="5577840" cy="3139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34290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</a:t>
            </a:r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 전: 예상 결과·가격·주의사항을 시각화
</a:t>
            </a:r>
            <a:pPr indent="0" marL="0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</a:t>
            </a:r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촬영 중: 포즈·의상·표정 가이드로 기대치 정렬
</a:t>
            </a:r>
            <a:pPr indent="0" marL="0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</a:t>
            </a:r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수령 후: 3D 자산 보관과 다음 사용처 제안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6062472" y="4782312"/>
            <a:ext cx="5257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지표: 상담 시간 ↓ / 클레임률 ↓ / 수령 후 재주문율 ↑</a:t>
            </a:r>
            <a:endParaRPr lang="en-US" sz="1320" dirty="0"/>
          </a:p>
        </p:txBody>
      </p:sp>
      <p:pic>
        <p:nvPicPr>
          <p:cNvPr id="8" name="Image 1" descr="/mnt/data/opt_imgs/a_clean_modern_retail_exhibition_interior_coll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383" y="5257800"/>
            <a:ext cx="1787042" cy="1005840"/>
          </a:xfrm>
          <a:prstGeom prst="rect">
            <a:avLst/>
          </a:prstGeom>
        </p:spPr>
      </p:pic>
      <p:pic>
        <p:nvPicPr>
          <p:cNvPr id="9" name="Image 2" descr="/mnt/data/opt_imgs/a_wide_luxurious_hotel_lobby_scene_with_warm_amb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583" y="5257800"/>
            <a:ext cx="1787042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 PRODUCT LADDER · 물리 굿즈에서 디지털 트윈까지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0392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3D 데이터가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 사다리를 만듭니다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76856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저가 키링으로 진입하고, 프리미엄 피규어와 B2B 기념품, 디지털 트윈 자산으로 객단가를 확장합니다.</a:t>
            </a:r>
            <a:endParaRPr lang="en-US" sz="1420" dirty="0"/>
          </a:p>
        </p:txBody>
      </p:sp>
      <p:pic>
        <p:nvPicPr>
          <p:cNvPr id="5" name="Image 0" descr="/mnt/data/opt_imgs/a_clean_warm_toned_product_showcase_scene_with_s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857" y="621792"/>
            <a:ext cx="4467606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337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72768" y="32369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키링·캐릭터형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4–8cm 개인화 굿즈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4160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72768" y="4059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실사 피규어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가족·커플·아이·반려동물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49834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72768" y="4882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트윈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아바타·AR·팬굿즈·IP 확장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 GO-TO-MARKET · 사용처부터 만든다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시장은 “큰 시장”보다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 강도가 높은 장면입니다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웨딩, 반려동물, 추모, 호텔, 팬덤은 가격보다 의미가 먼저 작동하는 시장입니다.</a:t>
            </a:r>
            <a:endParaRPr lang="en-US" sz="1450" dirty="0"/>
          </a:p>
        </p:txBody>
      </p:sp>
      <p:pic>
        <p:nvPicPr>
          <p:cNvPr id="5" name="Image 0" descr="/mnt/data/opt_imgs/a_clean_polished_3d_miniature_diorama_scene_wi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0135" y="621792"/>
            <a:ext cx="503621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383280"/>
            <a:ext cx="5029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</a:t>
            </a:r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B2C: 가족·커플·아이·반려동물 기념
</a:t>
            </a:r>
            <a:pPr indent="0" marL="0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</a:t>
            </a:r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B2B2C: 웨딩·호텔·백화점·봉안당 제휴
</a:t>
            </a:r>
            <a:pPr indent="0" marL="0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</a:t>
            </a:r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Digital: Roblox/ZEPETO/AR 전시·팬덤 굿즈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5989320" y="54681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전략: 감정 강도 높은 시장에서 데이터 재사용 습관을 먼저 만든다.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10. BUSINESS MODEL · 다중 수익 구조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피규어 매출은 시작점,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재사용이 수익성의 핵심입니다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95144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단품 판매에 머물면 원가 구조가 무겁지만, 3D 자산을 반복 판매하면 마진과 LTV가 개선됩니다.</a:t>
            </a:r>
            <a:endParaRPr lang="en-US" sz="1420" dirty="0"/>
          </a:p>
        </p:txBody>
      </p:sp>
      <p:pic>
        <p:nvPicPr>
          <p:cNvPr id="5" name="Image 0" descr="/mnt/data/opt_imgs/a_clean_high_end_3d_render_photoreal_illustrat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5054" y="621792"/>
            <a:ext cx="3817772" cy="2148840"/>
          </a:xfrm>
          <a:prstGeom prst="rect">
            <a:avLst/>
          </a:prstGeom>
        </p:spPr>
      </p:pic>
      <p:pic>
        <p:nvPicPr>
          <p:cNvPr id="6" name="Image 1" descr="/mnt/data/opt_imgs/a_clean_photorealistic_3d_still_life_product_c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54" y="2999232"/>
            <a:ext cx="3817772" cy="2148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 레이어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13232" y="3730752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실물 굿즈 판매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피규어·키링·패키지 업셀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B2B 제휴 매출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호텔·웨딩·브랜드·기념품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디지털 자산 매출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아바타·AR·3D 파일·IP 굿즈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운영 SaaS/API</a:t>
            </a:r>
            <a:endParaRPr lang="en-US" sz="13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스캔 주문·모델링 검수·파트너 정산</a:t>
            </a:r>
            <a:endParaRPr lang="en-US" sz="1380" dirty="0"/>
          </a:p>
        </p:txBody>
      </p:sp>
      <p:sp>
        <p:nvSpPr>
          <p:cNvPr id="9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11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11. TEST · 디자인 씽킹 검증 루프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전후 90일은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 검증의 속도가 핵심입니다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4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감정, 가격, 파트너 채널, 데이터 재사용률을 작게 만들고 빠르게 측정합니다.</a:t>
            </a:r>
            <a:endParaRPr lang="en-US" sz="1440" dirty="0"/>
          </a:p>
        </p:txBody>
      </p:sp>
      <p:pic>
        <p:nvPicPr>
          <p:cNvPr id="5" name="Image 0" descr="/mnt/data/opt_imgs/a_realistic_cinematic_corporate_meeting_room_sc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070" y="3310128"/>
            <a:ext cx="406146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검증할 4개 가설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37490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1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</a:t>
            </a:r>
            <a:pPr indent="0" marL="0">
              <a:lnSpc>
                <a:spcPct val="125000"/>
              </a:lnSpc>
              <a:buNone/>
            </a:pPr>
            <a:r>
              <a:rPr lang="en-US" sz="141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키링 SKU가 첫 구매 전환을 만든다
</a:t>
            </a:r>
            <a:pPr indent="0" marL="0">
              <a:lnSpc>
                <a:spcPct val="125000"/>
              </a:lnSpc>
              <a:buNone/>
            </a:pPr>
            <a:r>
              <a:rPr lang="en-US" sz="141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</a:t>
            </a:r>
            <a:pPr indent="0" marL="0">
              <a:lnSpc>
                <a:spcPct val="125000"/>
              </a:lnSpc>
              <a:buNone/>
            </a:pPr>
            <a:r>
              <a:rPr lang="en-US" sz="141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수령 후 “다음 사용처” 제안이 재구매를 만든다
</a:t>
            </a:r>
            <a:pPr indent="0" marL="0">
              <a:lnSpc>
                <a:spcPct val="125000"/>
              </a:lnSpc>
              <a:buNone/>
            </a:pPr>
            <a:r>
              <a:rPr lang="en-US" sz="141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</a:t>
            </a:r>
            <a:pPr indent="0" marL="0">
              <a:lnSpc>
                <a:spcPct val="125000"/>
              </a:lnSpc>
              <a:buNone/>
            </a:pPr>
            <a:r>
              <a:rPr lang="en-US" sz="141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웨딩/호텔 제휴는 CAC를 낮춘다
</a:t>
            </a:r>
            <a:pPr indent="0" marL="0">
              <a:lnSpc>
                <a:spcPct val="125000"/>
              </a:lnSpc>
              <a:buNone/>
            </a:pPr>
            <a:r>
              <a:rPr lang="en-US" sz="141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</a:t>
            </a:r>
            <a:pPr indent="0" marL="0">
              <a:lnSpc>
                <a:spcPct val="125000"/>
              </a:lnSpc>
              <a:buNone/>
            </a:pPr>
            <a:r>
              <a:rPr lang="en-US" sz="141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트윈 프리뷰가 클레임을 낮춘다</a:t>
            </a:r>
            <a:endParaRPr lang="en-US" sz="141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12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t_imgs/a_sleek_futuristic_3d_rendered_infographic_tech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979403"/>
            <a:ext cx="5715000" cy="32166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12. MOAT · 데이터 플라이휠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85800" y="987552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스캔 데이터가 쌓일수록</a:t>
            </a:r>
            <a:endParaRPr lang="en-US" sz="2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제작 자동화와 사용처가 동시에 늘어납니다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13232" y="260604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20" dirty="0">
                <a:solidFill>
                  <a:srgbClr val="D4CD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사람·반려동물·의상·포즈·결과물·클레임·재주문 데이터를 연결하면, 모델링 자동화와 추천 상품화가 가능해집니다.</a:t>
            </a:r>
            <a:endParaRPr lang="en-US" sz="1420" dirty="0"/>
          </a:p>
        </p:txBody>
      </p:sp>
      <p:sp>
        <p:nvSpPr>
          <p:cNvPr id="6" name="Text 3"/>
          <p:cNvSpPr/>
          <p:nvPr/>
        </p:nvSpPr>
        <p:spPr>
          <a:xfrm>
            <a:off x="713232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89F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Flywheel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3232" y="4242816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촬영 수 증가 → 데이터셋 증가 → 자동화 품질 향상 → 제작비 절감 → 더 낮은 진입가격 → 촬영 수 증가</a:t>
            </a:r>
            <a:endParaRPr lang="en-US" sz="1600" dirty="0"/>
          </a:p>
        </p:txBody>
      </p:sp>
      <p:pic>
        <p:nvPicPr>
          <p:cNvPr id="8" name="Image 1" descr="/mnt/data/opt_imgs/a_high_end_futuristic_3d_illustration_scene_comp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180" y="4864608"/>
            <a:ext cx="2111959" cy="1188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13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13. OPERATING SYSTEM · AI + 생산 표준화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수작업 브랜드가 아니라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커스텀 제조 운영체제로 보여야 합니다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95144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CS, 촬영, 모델링, 검수, 출력, 배송까지 표준화해야 투자자는 스케일업을 믿습니다.</a:t>
            </a:r>
            <a:endParaRPr lang="en-US" sz="1420" dirty="0"/>
          </a:p>
        </p:txBody>
      </p:sp>
      <p:pic>
        <p:nvPicPr>
          <p:cNvPr id="5" name="Image 0" descr="/mnt/data/opt_imgs/a_wide_ultra_clean_modern_industrial_lab_product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455" y="621792"/>
            <a:ext cx="4142689" cy="2331720"/>
          </a:xfrm>
          <a:prstGeom prst="rect">
            <a:avLst/>
          </a:prstGeom>
        </p:spPr>
      </p:pic>
      <p:pic>
        <p:nvPicPr>
          <p:cNvPr id="6" name="Image 1" descr="/mnt/data/opt_imgs/a_wide_cinematic_corporate_creative_studio_inter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55" y="3218688"/>
            <a:ext cx="4142689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대상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13232" y="3730752"/>
            <a:ext cx="5257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상담: 가격·주의사항·기대치 안내</a:t>
            </a:r>
            <a:endParaRPr lang="en-US" sz="144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모델링: 시안 생성·품질 체크·리비전 관리</a:t>
            </a:r>
            <a:endParaRPr lang="en-US" sz="144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생산: 출력 배치·불량 감지·납기 예측</a:t>
            </a:r>
            <a:endParaRPr lang="en-US" sz="144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44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파트너: 제휴처 주문/정산/재주문 관리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713232" y="55046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목표: 사람의 감성 판단은 남기고, 반복 업무는 시스템화합니다.</a:t>
            </a:r>
            <a:endParaRPr lang="en-US" sz="1340" dirty="0"/>
          </a:p>
        </p:txBody>
      </p:sp>
      <p:sp>
        <p:nvSpPr>
          <p:cNvPr id="10" name="Text 6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14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14. BENCHMARK · 리빌더AI / Matterport / 아바타 툴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우리는 “사람의 디지털 트윈”에서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감정적인 진입점을 가집니다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6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리빌더AI는 제조용 3D 데이터, Matterport는 공간 디지털 트윈, MyMiniMe는 사람·반려동물의 기억 데이터를 실물 매출로 시작합니다.</a:t>
            </a:r>
            <a:endParaRPr lang="en-US" sz="1360" dirty="0"/>
          </a:p>
        </p:txBody>
      </p:sp>
      <p:sp>
        <p:nvSpPr>
          <p:cNvPr id="5" name="Text 3"/>
          <p:cNvSpPr/>
          <p:nvPr/>
        </p:nvSpPr>
        <p:spPr>
          <a:xfrm>
            <a:off x="713232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 구도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3639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RebuilderAI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057400" y="3639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제품·제조 3D 데이터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663440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라이선스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13232" y="41422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Matterport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2057400" y="4142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 디지털 트윈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663440" y="4142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SaaS/공간 데이터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13232" y="46451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Avatar Tools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057400" y="4645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게임·SNS 아바타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663440" y="46451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소비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13232" y="51480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057400" y="5148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사람·반려동물의 실물+디지털 자산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663440" y="51480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 커머스+데이터 재사용</a:t>
            </a:r>
            <a:endParaRPr lang="en-US" sz="1120" dirty="0"/>
          </a:p>
        </p:txBody>
      </p:sp>
      <p:pic>
        <p:nvPicPr>
          <p:cNvPr id="18" name="Image 0" descr="/mnt/data/opt_imgs/a_clean_high_end_isometric_3d_illustration_sce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0769" y="713232"/>
            <a:ext cx="4954981" cy="2788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" y="58978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8D82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참고: 리빌더AI 45억 프리A 공개보도, Matterport SPAC 투자자료/디지털 트윈 사례 기반 벤치마크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15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15. FUNDRAISING · 45억 사용 계획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45억은 매장 확장비가 아니라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 전환비입니다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30428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투자금의 목적은 더 많은 피규어 생산이 아니라, 데이터 재사용과 운영 자동화의 증거를 만드는 것입니다.</a:t>
            </a:r>
            <a:endParaRPr lang="en-US" sz="1420" dirty="0"/>
          </a:p>
        </p:txBody>
      </p:sp>
      <p:pic>
        <p:nvPicPr>
          <p:cNvPr id="5" name="Image 0" descr="/mnt/data/opt_imgs/a_clean_high_end_3d_isometric_angled_still_lif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8695" y="685800"/>
            <a:ext cx="503621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381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투자금 배분안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37856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AI/데이터 자동화</a:t>
            </a:r>
            <a:endParaRPr lang="en-US" sz="1160" dirty="0"/>
          </a:p>
        </p:txBody>
      </p:sp>
      <p:sp>
        <p:nvSpPr>
          <p:cNvPr id="8" name="Text 5"/>
          <p:cNvSpPr/>
          <p:nvPr/>
        </p:nvSpPr>
        <p:spPr>
          <a:xfrm>
            <a:off x="2953512" y="37856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35%</a:t>
            </a:r>
            <a:endParaRPr lang="en-US" sz="1160" dirty="0"/>
          </a:p>
        </p:txBody>
      </p:sp>
      <p:sp>
        <p:nvSpPr>
          <p:cNvPr id="9" name="Text 6"/>
          <p:cNvSpPr/>
          <p:nvPr/>
        </p:nvSpPr>
        <p:spPr>
          <a:xfrm>
            <a:off x="365760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모델링·검수·추천 엔진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49808" y="41513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제휴/팝업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2953512" y="4151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25%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3657600" y="4151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웨딩·호텔·백화점 검증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49808" y="45171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 표준화</a:t>
            </a:r>
            <a:endParaRPr lang="en-US" sz="1160" dirty="0"/>
          </a:p>
        </p:txBody>
      </p:sp>
      <p:sp>
        <p:nvSpPr>
          <p:cNvPr id="14" name="Text 11"/>
          <p:cNvSpPr/>
          <p:nvPr/>
        </p:nvSpPr>
        <p:spPr>
          <a:xfrm>
            <a:off x="2953512" y="4517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20%</a:t>
            </a:r>
            <a:endParaRPr lang="en-US" sz="1160" dirty="0"/>
          </a:p>
        </p:txBody>
      </p:sp>
      <p:sp>
        <p:nvSpPr>
          <p:cNvPr id="15" name="Text 12"/>
          <p:cNvSpPr/>
          <p:nvPr/>
        </p:nvSpPr>
        <p:spPr>
          <a:xfrm>
            <a:off x="3657600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품질·납기·원가 관리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49808" y="48828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트윈 제품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2953512" y="48828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15%</a:t>
            </a:r>
            <a:endParaRPr lang="en-US" sz="1160" dirty="0"/>
          </a:p>
        </p:txBody>
      </p:sp>
      <p:sp>
        <p:nvSpPr>
          <p:cNvPr id="18" name="Text 15"/>
          <p:cNvSpPr/>
          <p:nvPr/>
        </p:nvSpPr>
        <p:spPr>
          <a:xfrm>
            <a:off x="3657600" y="4882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아바타·AR·파일 재사용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749808" y="52486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브랜드/IR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2953512" y="5248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6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5%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3657600" y="5248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레퍼런스·콘텐츠·채용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731520" y="5897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후 18개월 목표: 스캔 데이터 재사용 매출을 별도 매출 라인으로 분리합니다.</a:t>
            </a:r>
            <a:endParaRPr lang="en-US" sz="1270" dirty="0"/>
          </a:p>
        </p:txBody>
      </p:sp>
      <p:sp>
        <p:nvSpPr>
          <p:cNvPr id="23" name="Text 20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16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16. MILESTONES · 18개월 실행 로드맵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투자자가 봐야 할 것은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매출보다 “반복 가능성”입니다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31343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개별 주문을 반복 가능한 시스템으로 전환하는 지표를 분기별로 증명합니다.</a:t>
            </a:r>
            <a:endParaRPr lang="en-US" sz="1420" dirty="0"/>
          </a:p>
        </p:txBody>
      </p:sp>
      <p:pic>
        <p:nvPicPr>
          <p:cNvPr id="5" name="Image 0" descr="/mnt/data/opt_imgs/a_clean_well_lit_product_process_infographic_ima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997" y="621792"/>
            <a:ext cx="4467606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401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0–3M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37360" y="3401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키링·캐릭터 SKU 검증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343400" y="34015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구매 전환/객단가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3232" y="3950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4–6M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37360" y="3950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웨딩·호텔 B2B PoC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343400" y="3950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파트너당 월 주문수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3232" y="44988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7–12M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4498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모델링/검수 자동화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343400" y="4498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리드타임·리비전 감소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13232" y="50474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13–18M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737360" y="5047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4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트윈 재사용 상품화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43400" y="5047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26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촬영 1건당 LTV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57424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954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북극성 지표: 1회 스캔 데이터의 생애 매출(LTV per Scan)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17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t_imgs/a_hyperrealistic_cinematic_close_up_scene_of_a_l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903" y="3584448"/>
            <a:ext cx="3655314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58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D6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17. CLOSING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85800" y="111556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피규어 회사가 아니라,</a:t>
            </a:r>
            <a:endParaRPr lang="en-US" sz="3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사람의 3D 자산을 보관하고</a:t>
            </a:r>
            <a:endParaRPr lang="en-US" sz="3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재사용하게 만드는 회사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80" dirty="0">
                <a:solidFill>
                  <a:srgbClr val="D4CD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MyMiniMe의 투자 포인트는 “감정이 있는 데이터”입니다.</a:t>
            </a:r>
            <a:endParaRPr lang="en-US" sz="148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480" dirty="0">
                <a:solidFill>
                  <a:srgbClr val="D4CD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기억을 사는 고객 접점에서 출발해, 실물 굿즈와 디지털 트윈을 동시에 확장합니다.</a:t>
            </a:r>
            <a:endParaRPr lang="en-US" sz="1480" dirty="0"/>
          </a:p>
        </p:txBody>
      </p:sp>
      <p:sp>
        <p:nvSpPr>
          <p:cNvPr id="6" name="Text 3"/>
          <p:cNvSpPr/>
          <p:nvPr/>
        </p:nvSpPr>
        <p:spPr>
          <a:xfrm>
            <a:off x="713232" y="4828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89F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공개자료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3232" y="513892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B8A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리빌더AI 프리A 45억 투자 보도: 머니투데이/매일경제/조선비즈 등</a:t>
            </a:r>
            <a:endParaRPr lang="en-US" sz="92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B8A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Matterport SPAC 투자자료 및 디지털 트윈 플랫폼 사례</a:t>
            </a:r>
            <a:endParaRPr lang="en-US" sz="92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B8A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MyMiniMe 내부 사업 가정: 가격·제작기간·매장·스캔 방식은 IR 전 최종 확인 필요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9B8E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MyMiniMe Studio · Design Thinking Pitch Deck  |  18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MyMiniMe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MyMiniMe Studio 45억 Seed/Pre-A 투자 제안서</dc:title>
  <dc:subject>MyMiniMe Studio Design Thinking Pitch Deck</dc:subject>
  <dc:creator>OpenAI</dc:creator>
  <cp:lastModifiedBy>OpenAI</cp:lastModifiedBy>
  <cp:revision>1</cp:revision>
  <dcterms:created xsi:type="dcterms:W3CDTF">2026-05-05T08:20:43Z</dcterms:created>
  <dcterms:modified xsi:type="dcterms:W3CDTF">2026-05-05T08:20:43Z</dcterms:modified>
</cp:coreProperties>
</file>